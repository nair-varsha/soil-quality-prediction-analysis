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256" r:id="rId2"/>
    <p:sldId id="258" r:id="rId3"/>
    <p:sldId id="259" r:id="rId4"/>
    <p:sldId id="262" r:id="rId5"/>
    <p:sldId id="260" r:id="rId6"/>
    <p:sldId id="266" r:id="rId7"/>
    <p:sldId id="257" r:id="rId8"/>
    <p:sldId id="261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FCFCF"/>
    <a:srgbClr val="458B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5033" autoAdjust="0"/>
  </p:normalViewPr>
  <p:slideViewPr>
    <p:cSldViewPr snapToGrid="0">
      <p:cViewPr varScale="1">
        <p:scale>
          <a:sx n="81" d="100"/>
          <a:sy n="81" d="100"/>
        </p:scale>
        <p:origin x="8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R VARSHA V" userId="104901ddb00bfc89" providerId="LiveId" clId="{F9CD3154-AD1E-406F-A2E2-DC9C2AF2F8E1}"/>
    <pc:docChg chg="custSel modSld">
      <pc:chgData name="NAIR VARSHA V" userId="104901ddb00bfc89" providerId="LiveId" clId="{F9CD3154-AD1E-406F-A2E2-DC9C2AF2F8E1}" dt="2025-09-26T05:32:29.233" v="192" actId="20577"/>
      <pc:docMkLst>
        <pc:docMk/>
      </pc:docMkLst>
      <pc:sldChg chg="modSp mod">
        <pc:chgData name="NAIR VARSHA V" userId="104901ddb00bfc89" providerId="LiveId" clId="{F9CD3154-AD1E-406F-A2E2-DC9C2AF2F8E1}" dt="2025-09-26T02:46:47.199" v="10" actId="14100"/>
        <pc:sldMkLst>
          <pc:docMk/>
          <pc:sldMk cId="3093133592" sldId="256"/>
        </pc:sldMkLst>
        <pc:spChg chg="mod">
          <ac:chgData name="NAIR VARSHA V" userId="104901ddb00bfc89" providerId="LiveId" clId="{F9CD3154-AD1E-406F-A2E2-DC9C2AF2F8E1}" dt="2025-09-26T02:46:47.199" v="10" actId="14100"/>
          <ac:spMkLst>
            <pc:docMk/>
            <pc:sldMk cId="3093133592" sldId="256"/>
            <ac:spMk id="11" creationId="{854D0D84-20BE-F67F-EF65-84876915EF19}"/>
          </ac:spMkLst>
        </pc:spChg>
      </pc:sldChg>
      <pc:sldChg chg="modSp mod">
        <pc:chgData name="NAIR VARSHA V" userId="104901ddb00bfc89" providerId="LiveId" clId="{F9CD3154-AD1E-406F-A2E2-DC9C2AF2F8E1}" dt="2025-09-26T02:49:12.622" v="12" actId="33524"/>
        <pc:sldMkLst>
          <pc:docMk/>
          <pc:sldMk cId="2251251126" sldId="257"/>
        </pc:sldMkLst>
        <pc:spChg chg="mod">
          <ac:chgData name="NAIR VARSHA V" userId="104901ddb00bfc89" providerId="LiveId" clId="{F9CD3154-AD1E-406F-A2E2-DC9C2AF2F8E1}" dt="2025-09-26T02:49:12.622" v="12" actId="33524"/>
          <ac:spMkLst>
            <pc:docMk/>
            <pc:sldMk cId="2251251126" sldId="257"/>
            <ac:spMk id="19" creationId="{2F41F87F-0DBC-2D0A-9BAE-8144A8BAB19E}"/>
          </ac:spMkLst>
        </pc:spChg>
      </pc:sldChg>
      <pc:sldChg chg="addSp delSp modSp mod">
        <pc:chgData name="NAIR VARSHA V" userId="104901ddb00bfc89" providerId="LiveId" clId="{F9CD3154-AD1E-406F-A2E2-DC9C2AF2F8E1}" dt="2025-09-26T05:32:29.233" v="192" actId="20577"/>
        <pc:sldMkLst>
          <pc:docMk/>
          <pc:sldMk cId="4153552636" sldId="258"/>
        </pc:sldMkLst>
        <pc:spChg chg="mod">
          <ac:chgData name="NAIR VARSHA V" userId="104901ddb00bfc89" providerId="LiveId" clId="{F9CD3154-AD1E-406F-A2E2-DC9C2AF2F8E1}" dt="2025-09-26T05:31:18.557" v="188" actId="14100"/>
          <ac:spMkLst>
            <pc:docMk/>
            <pc:sldMk cId="4153552636" sldId="258"/>
            <ac:spMk id="2" creationId="{EAD06428-036F-B3E5-C70D-B9CD244E42B9}"/>
          </ac:spMkLst>
        </pc:spChg>
        <pc:spChg chg="add del mod">
          <ac:chgData name="NAIR VARSHA V" userId="104901ddb00bfc89" providerId="LiveId" clId="{F9CD3154-AD1E-406F-A2E2-DC9C2AF2F8E1}" dt="2025-09-26T05:24:21.474" v="128"/>
          <ac:spMkLst>
            <pc:docMk/>
            <pc:sldMk cId="4153552636" sldId="258"/>
            <ac:spMk id="3" creationId="{23773457-4C1F-615F-0D56-1CB8E8BB0EE4}"/>
          </ac:spMkLst>
        </pc:spChg>
        <pc:spChg chg="add del mod">
          <ac:chgData name="NAIR VARSHA V" userId="104901ddb00bfc89" providerId="LiveId" clId="{F9CD3154-AD1E-406F-A2E2-DC9C2AF2F8E1}" dt="2025-09-26T05:24:21.465" v="126" actId="478"/>
          <ac:spMkLst>
            <pc:docMk/>
            <pc:sldMk cId="4153552636" sldId="258"/>
            <ac:spMk id="4" creationId="{C2BBE1E7-5428-A771-B822-DD1BB27DCB3E}"/>
          </ac:spMkLst>
        </pc:spChg>
        <pc:spChg chg="add mod">
          <ac:chgData name="NAIR VARSHA V" userId="104901ddb00bfc89" providerId="LiveId" clId="{F9CD3154-AD1E-406F-A2E2-DC9C2AF2F8E1}" dt="2025-09-26T05:31:12.602" v="186" actId="1076"/>
          <ac:spMkLst>
            <pc:docMk/>
            <pc:sldMk cId="4153552636" sldId="258"/>
            <ac:spMk id="5" creationId="{1FAA8FE1-53D2-8584-390C-EDCA32456915}"/>
          </ac:spMkLst>
        </pc:spChg>
        <pc:spChg chg="add mod">
          <ac:chgData name="NAIR VARSHA V" userId="104901ddb00bfc89" providerId="LiveId" clId="{F9CD3154-AD1E-406F-A2E2-DC9C2AF2F8E1}" dt="2025-09-26T05:32:29.233" v="192" actId="20577"/>
          <ac:spMkLst>
            <pc:docMk/>
            <pc:sldMk cId="4153552636" sldId="258"/>
            <ac:spMk id="6" creationId="{45DCCC60-78A8-4847-4523-CB4AAC755A30}"/>
          </ac:spMkLst>
        </pc:spChg>
        <pc:spChg chg="add del mod">
          <ac:chgData name="NAIR VARSHA V" userId="104901ddb00bfc89" providerId="LiveId" clId="{F9CD3154-AD1E-406F-A2E2-DC9C2AF2F8E1}" dt="2025-09-26T05:30:57.710" v="185" actId="21"/>
          <ac:spMkLst>
            <pc:docMk/>
            <pc:sldMk cId="4153552636" sldId="258"/>
            <ac:spMk id="7" creationId="{B7B97397-710B-6A15-A2AB-A256687FD5E7}"/>
          </ac:spMkLst>
        </pc:spChg>
        <pc:spChg chg="del mod">
          <ac:chgData name="NAIR VARSHA V" userId="104901ddb00bfc89" providerId="LiveId" clId="{F9CD3154-AD1E-406F-A2E2-DC9C2AF2F8E1}" dt="2025-09-26T05:24:00.111" v="121" actId="21"/>
          <ac:spMkLst>
            <pc:docMk/>
            <pc:sldMk cId="4153552636" sldId="258"/>
            <ac:spMk id="16" creationId="{C2BBE1E7-5428-A771-B822-DD1BB27DCB3E}"/>
          </ac:spMkLst>
        </pc:spChg>
      </pc:sldChg>
      <pc:sldChg chg="modSp mod">
        <pc:chgData name="NAIR VARSHA V" userId="104901ddb00bfc89" providerId="LiveId" clId="{F9CD3154-AD1E-406F-A2E2-DC9C2AF2F8E1}" dt="2025-09-26T05:18:03.776" v="30" actId="27636"/>
        <pc:sldMkLst>
          <pc:docMk/>
          <pc:sldMk cId="594285371" sldId="261"/>
        </pc:sldMkLst>
        <pc:spChg chg="mod">
          <ac:chgData name="NAIR VARSHA V" userId="104901ddb00bfc89" providerId="LiveId" clId="{F9CD3154-AD1E-406F-A2E2-DC9C2AF2F8E1}" dt="2025-09-26T05:17:44.578" v="26" actId="14100"/>
          <ac:spMkLst>
            <pc:docMk/>
            <pc:sldMk cId="594285371" sldId="261"/>
            <ac:spMk id="2" creationId="{1D71F0F6-5D88-1AEA-27B0-0B5CE1A4E42C}"/>
          </ac:spMkLst>
        </pc:spChg>
        <pc:spChg chg="mod">
          <ac:chgData name="NAIR VARSHA V" userId="104901ddb00bfc89" providerId="LiveId" clId="{F9CD3154-AD1E-406F-A2E2-DC9C2AF2F8E1}" dt="2025-09-26T05:18:03.776" v="30" actId="27636"/>
          <ac:spMkLst>
            <pc:docMk/>
            <pc:sldMk cId="594285371" sldId="261"/>
            <ac:spMk id="3" creationId="{601B4706-2285-FD5D-3406-975AB0769E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98A4C2-38B4-42AE-8420-7656B1FF5891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190F8-4CE7-454C-82D1-6774F59612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67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C190F8-4CE7-454C-82D1-6774F596128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649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D92C-EE9D-4278-13EC-78D97C14F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08D4A-3477-61B5-8F87-589C94755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780CF-5DCA-9D5A-FCCB-CED3566C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00EA5-7097-7EE6-4E94-63CCD87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225FC-B29E-1EED-F64E-0ECDF14E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343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146E-0E89-0E1E-89F8-A77FCCCD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4DB6E-78DF-9FE4-21D2-9369AB266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FF6EE-6BA8-E70C-502C-66ECFA8F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8FF6B-2691-3C7F-C3D4-1C53049B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606C-F2B5-3CE1-7A76-DCE438D5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2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3BF1-4348-51C8-716B-8233B59FB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96891-F5A9-012E-C640-294669CFB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1E4C9-F70A-23FE-651D-8D2439E2D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D4CBA-0119-4328-CF8B-B5C5F289B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4A1CB-4396-13D5-17D9-50365442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56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87F7-2706-6C9F-B3E2-14170C3BD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FBAD-051E-28A7-C775-83A6DBA30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9A6F3-D35E-1BBB-BB63-B64AC64CC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40B8C-4F4C-E69E-89A8-FD97F860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59007-478E-5F9F-D39B-8D87BAC4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1B71E-FAE6-15BC-D991-1506668B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220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DEFE-E73D-5C4A-C0DF-D6A71C358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64E0F-2EFF-5A2A-A67E-2FB740745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33FDB-DA65-6B73-BE0F-7A90A0F63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69A789-9EA5-A961-AC17-EFC0569FE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6082C-2310-A3F5-F4EE-AD52E18F16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86DB11-D29E-018E-3785-65DF14F5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279335-1096-F7DE-C15D-9322AEED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F9D8D1-107C-2E84-A556-2F7052577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21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65164-FDFC-4158-40BD-16EF11C6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042E9-7D7B-7D31-3C81-771FA84C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3F943-E031-7C96-7ABC-5A958CC97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C736A-D475-CAA4-A4CA-6E3EF951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7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85957-0310-E1E0-FEFA-A0FCD7EE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8E842-2A7A-43C4-2D9F-B33EB945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66D55-F510-5010-F436-8BB85D85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1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267A-E132-3C29-AC76-2D65FB6B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C0A1B-25D6-929A-4F67-12907A0BD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07301-EB71-09AB-FAF4-DCB2F54CB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509E1-F427-2E33-815A-BC87CFAB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2F354-9078-C979-CC80-1253BF19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5409B-1E50-EEAE-B388-E4BEC2F51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76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490B-9D74-B9FC-FC51-8138382B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0D7E5D-FB21-BCB1-464B-B341AF91A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623CF-5FAA-B9C9-F1FA-372E7C6E9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8CE9C-8157-0AC5-1B74-5BA855D76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9CB6-7A1C-5277-A9C5-16217474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9E0BB-DE5A-7074-CFA0-BE53E70D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18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5C7A-21AE-0CC2-03B4-3A185193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9D974-08BD-79DF-08C6-426426275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BB4F7-73F2-B97C-D1FF-687D9EE1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32AC8-2A63-FE3D-E0BA-03D21088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70A5A-79BF-98CE-7B82-89691064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31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4B267-844C-2A89-A926-2AD3E291CF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5BB2E-AA09-7C4B-53E1-001FC10CE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183FB-9CF7-9365-5358-A4BFA9C4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BA866-FD9F-982E-AEF4-61AB9906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7724B-A927-73E7-0E6E-2E7FE85A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672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2E40A-49DA-86F6-76A6-D12D7D60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5E7A7-2912-74D4-DF34-C079C0910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E3390-C414-5963-12FB-CDCA604E1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1FF0-E9CA-4F20-8ACC-627CA02B1418}" type="datetimeFigureOut">
              <a:rPr lang="en-IN" smtClean="0"/>
              <a:t>26-09-2025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A284C-5552-71A5-6622-C4DE11909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C5542-2579-6624-A2DB-F6F40C85F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D6ACC-B4BD-4D3E-B933-12E117A5A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63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4D0D84-20BE-F67F-EF65-84876915EF19}"/>
              </a:ext>
            </a:extLst>
          </p:cNvPr>
          <p:cNvSpPr txBox="1"/>
          <p:nvPr/>
        </p:nvSpPr>
        <p:spPr>
          <a:xfrm>
            <a:off x="1857080" y="2300140"/>
            <a:ext cx="8823489" cy="1334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6000" dirty="0"/>
              <a:t>SOIL QUALITY PREDICTION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1E613-B723-E067-CBBC-3D6AD5BF0E84}"/>
              </a:ext>
            </a:extLst>
          </p:cNvPr>
          <p:cNvSpPr txBox="1"/>
          <p:nvPr/>
        </p:nvSpPr>
        <p:spPr>
          <a:xfrm>
            <a:off x="5590095" y="3315803"/>
            <a:ext cx="2441542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Varsha V Nair</a:t>
            </a:r>
          </a:p>
        </p:txBody>
      </p:sp>
    </p:spTree>
    <p:extLst>
      <p:ext uri="{BB962C8B-B14F-4D97-AF65-F5344CB8AC3E}">
        <p14:creationId xmlns:p14="http://schemas.microsoft.com/office/powerpoint/2010/main" val="309313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6428-036F-B3E5-C70D-B9CD244E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3632"/>
            <a:ext cx="10515600" cy="6018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b="1" spc="300" dirty="0">
                <a:solidFill>
                  <a:schemeClr val="bg2">
                    <a:lumMod val="75000"/>
                  </a:schemeClr>
                </a:solidFill>
              </a:rPr>
              <a:t>INTRODUCTION:</a:t>
            </a:r>
            <a:endParaRPr lang="en-IN" b="1" spc="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AA8FE1-53D2-8584-390C-EDCA32456915}"/>
              </a:ext>
            </a:extLst>
          </p:cNvPr>
          <p:cNvSpPr/>
          <p:nvPr/>
        </p:nvSpPr>
        <p:spPr>
          <a:xfrm>
            <a:off x="395925" y="1242914"/>
            <a:ext cx="4600279" cy="492359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CCC60-78A8-4847-4523-CB4AAC755A30}"/>
              </a:ext>
            </a:extLst>
          </p:cNvPr>
          <p:cNvSpPr txBox="1"/>
          <p:nvPr/>
        </p:nvSpPr>
        <p:spPr>
          <a:xfrm>
            <a:off x="565608" y="1390493"/>
            <a:ext cx="4260915" cy="443198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project focuses on </a:t>
            </a:r>
            <a:r>
              <a:rPr lang="en-US" sz="2400" b="1" dirty="0"/>
              <a:t>predicting soil quality</a:t>
            </a:r>
            <a:r>
              <a:rPr lang="en-US" sz="2400" dirty="0"/>
              <a:t> using </a:t>
            </a:r>
            <a:r>
              <a:rPr lang="en-US" sz="2400" b="1" dirty="0"/>
              <a:t>machine learning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aims to provide </a:t>
            </a:r>
            <a:r>
              <a:rPr lang="en-US" sz="2400" b="1" dirty="0"/>
              <a:t>accurate soil classification</a:t>
            </a:r>
            <a:r>
              <a:rPr lang="en-US" sz="2400" dirty="0"/>
              <a:t> based on soil and environmental data.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Helps </a:t>
            </a:r>
            <a:r>
              <a:rPr lang="en-US" sz="2400" b="1" dirty="0"/>
              <a:t>farmers</a:t>
            </a:r>
            <a:r>
              <a:rPr lang="en-US" sz="2400" dirty="0"/>
              <a:t> make better decisions for </a:t>
            </a:r>
            <a:r>
              <a:rPr lang="en-US" sz="2400" b="1" dirty="0"/>
              <a:t>crop selection</a:t>
            </a:r>
            <a:r>
              <a:rPr lang="en-US" sz="2400" dirty="0"/>
              <a:t> and </a:t>
            </a:r>
            <a:r>
              <a:rPr lang="en-US" sz="2400" b="1" dirty="0"/>
              <a:t>resource management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55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61E19C-3069-1F01-B66B-872385378587}"/>
              </a:ext>
            </a:extLst>
          </p:cNvPr>
          <p:cNvSpPr/>
          <p:nvPr/>
        </p:nvSpPr>
        <p:spPr>
          <a:xfrm>
            <a:off x="289874" y="961534"/>
            <a:ext cx="4244419" cy="54298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ABA4B-37F4-9060-0DD0-6E9C708DE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2" y="1923068"/>
            <a:ext cx="3799003" cy="449678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latin typeface="+mj-lt"/>
              </a:rPr>
              <a:t>Pollutant Concentration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j-lt"/>
              </a:rPr>
              <a:t>Temperature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j-lt"/>
              </a:rPr>
              <a:t>Humidity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j-lt"/>
              </a:rPr>
              <a:t>Soil pH_Value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j-lt"/>
              </a:rPr>
              <a:t>Rainfall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+mj-lt"/>
              </a:rPr>
              <a:t>Soil Organic Matter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>
              <a:lnSpc>
                <a:spcPct val="100000"/>
              </a:lnSpc>
            </a:pPr>
            <a:endParaRPr lang="en-IN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B48747-5395-8003-6CD2-D1AFC0104B67}"/>
              </a:ext>
            </a:extLst>
          </p:cNvPr>
          <p:cNvSpPr txBox="1"/>
          <p:nvPr/>
        </p:nvSpPr>
        <p:spPr>
          <a:xfrm>
            <a:off x="518475" y="1276489"/>
            <a:ext cx="2714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</a:t>
            </a:r>
            <a:r>
              <a:rPr lang="en-IN" sz="2800" b="1" dirty="0"/>
              <a:t>FEATURES: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1508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47D1-9044-5FD7-0590-C4BB36B3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9875"/>
            <a:ext cx="4299408" cy="1536569"/>
          </a:xfrm>
        </p:spPr>
        <p:txBody>
          <a:bodyPr>
            <a:normAutofit/>
          </a:bodyPr>
          <a:lstStyle/>
          <a:p>
            <a:r>
              <a:rPr lang="en-US" b="1" spc="300" dirty="0"/>
              <a:t>TARGET VALUE </a:t>
            </a:r>
            <a:endParaRPr lang="en-IN" b="1" spc="3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166AEA-EC81-896B-094B-C2F9C31038C0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75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FFFFF"/>
                </a:solidFill>
              </a:ln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6BD295-42A4-DA24-9EE7-07455B68DCDB}"/>
              </a:ext>
            </a:extLst>
          </p:cNvPr>
          <p:cNvSpPr txBox="1"/>
          <p:nvPr/>
        </p:nvSpPr>
        <p:spPr>
          <a:xfrm>
            <a:off x="622169" y="2677212"/>
            <a:ext cx="6096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Soil Quality:</a:t>
            </a:r>
          </a:p>
          <a:p>
            <a:br>
              <a:rPr lang="en-US" sz="2400" dirty="0"/>
            </a:br>
            <a:r>
              <a:rPr lang="en-US" sz="2400" dirty="0"/>
              <a:t>The target variable </a:t>
            </a:r>
            <a:r>
              <a:rPr lang="en-US" sz="2400" i="1" dirty="0"/>
              <a:t>“Soil Quality”</a:t>
            </a:r>
            <a:r>
              <a:rPr lang="en-US" sz="2400" dirty="0"/>
              <a:t> was selected because the primary objective of this project is to </a:t>
            </a:r>
            <a:r>
              <a:rPr lang="en-US" sz="2400" b="1" dirty="0"/>
              <a:t>recommend the most suitable soil under environmental conditions</a:t>
            </a:r>
            <a:r>
              <a:rPr lang="en-US" sz="2400" dirty="0"/>
              <a:t>, making it the key output for driving </a:t>
            </a:r>
            <a:r>
              <a:rPr lang="en-US" sz="2400" b="1" dirty="0"/>
              <a:t>data-driven agricultural decisions</a:t>
            </a:r>
            <a:r>
              <a:rPr lang="en-US" sz="24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77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B442-0E26-3919-522A-AB343BFB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519" y="152689"/>
            <a:ext cx="3114963" cy="1198564"/>
          </a:xfrm>
        </p:spPr>
        <p:txBody>
          <a:bodyPr/>
          <a:lstStyle/>
          <a:p>
            <a:r>
              <a:rPr lang="en-US" b="1" spc="300" dirty="0"/>
              <a:t>DATASET</a:t>
            </a:r>
            <a:endParaRPr lang="en-IN" b="1" spc="3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877B88-EA0D-F0F6-B1EA-F19086D5D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285" y="1351252"/>
            <a:ext cx="11109102" cy="516038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6656CD-5BC4-FD69-C511-6C3C4F3B695B}"/>
              </a:ext>
            </a:extLst>
          </p:cNvPr>
          <p:cNvSpPr/>
          <p:nvPr/>
        </p:nvSpPr>
        <p:spPr>
          <a:xfrm>
            <a:off x="652285" y="1351252"/>
            <a:ext cx="11109102" cy="51603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026CD5-C9FB-9985-09C9-2C92656EF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10" y="1436299"/>
            <a:ext cx="10885251" cy="499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4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70E7-5775-F226-A663-A96332803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37256" cy="1325563"/>
          </a:xfrm>
        </p:spPr>
        <p:txBody>
          <a:bodyPr/>
          <a:lstStyle/>
          <a:p>
            <a:pPr algn="ctr"/>
            <a:r>
              <a:rPr lang="en-US" b="1" spc="300" dirty="0"/>
              <a:t>MODELS:</a:t>
            </a:r>
            <a:endParaRPr lang="en-IN" b="1" spc="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EACB5-B506-828C-45D4-F5545E92E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336"/>
            <a:ext cx="6637256" cy="5051269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spc="300" dirty="0"/>
              <a:t>LOGISTIC REGRESSION</a:t>
            </a:r>
          </a:p>
          <a:p>
            <a:pPr lvl="1">
              <a:lnSpc>
                <a:spcPct val="150000"/>
              </a:lnSpc>
            </a:pPr>
            <a:r>
              <a:rPr lang="en-IN" spc="300" dirty="0"/>
              <a:t>DECISION TREE CLASSIFIER</a:t>
            </a:r>
          </a:p>
          <a:p>
            <a:pPr lvl="1">
              <a:lnSpc>
                <a:spcPct val="150000"/>
              </a:lnSpc>
            </a:pPr>
            <a:r>
              <a:rPr lang="en-IN" spc="300" dirty="0"/>
              <a:t>RANDOM FOREST CLASSIFIER</a:t>
            </a:r>
          </a:p>
          <a:p>
            <a:pPr lvl="1">
              <a:lnSpc>
                <a:spcPct val="150000"/>
              </a:lnSpc>
            </a:pPr>
            <a:r>
              <a:rPr lang="en-IN" spc="300" dirty="0"/>
              <a:t>ADABOOST CLASSIFIER</a:t>
            </a:r>
          </a:p>
          <a:p>
            <a:pPr lvl="1">
              <a:lnSpc>
                <a:spcPct val="150000"/>
              </a:lnSpc>
            </a:pPr>
            <a:r>
              <a:rPr lang="en-IN" spc="300" dirty="0"/>
              <a:t>GRADIENTBOOST CLASSIFIER</a:t>
            </a:r>
          </a:p>
          <a:p>
            <a:pPr lvl="1">
              <a:lnSpc>
                <a:spcPct val="150000"/>
              </a:lnSpc>
            </a:pPr>
            <a:r>
              <a:rPr lang="en-IN" spc="300" dirty="0"/>
              <a:t>KNEIGHBOURS CLASSIFIER</a:t>
            </a:r>
          </a:p>
          <a:p>
            <a:pPr lvl="1">
              <a:lnSpc>
                <a:spcPct val="150000"/>
              </a:lnSpc>
            </a:pPr>
            <a:r>
              <a:rPr lang="en-IN" spc="300" dirty="0"/>
              <a:t>GAUSSIAN NB CLASSIFIER</a:t>
            </a:r>
          </a:p>
          <a:p>
            <a:pPr algn="ctr"/>
            <a:endParaRPr lang="en-IN" spc="3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E591E1-2C3E-1196-7053-AD8E5E8D908D}"/>
              </a:ext>
            </a:extLst>
          </p:cNvPr>
          <p:cNvSpPr/>
          <p:nvPr/>
        </p:nvSpPr>
        <p:spPr>
          <a:xfrm>
            <a:off x="9980579" y="0"/>
            <a:ext cx="221142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EFA59A-BB52-CF8A-5F79-7F312A6A8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5" b="14805"/>
          <a:stretch/>
        </p:blipFill>
        <p:spPr>
          <a:xfrm>
            <a:off x="7155505" y="969209"/>
            <a:ext cx="3771898" cy="49195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9550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78B211-CA0F-C398-0B56-F0AF5EFC33BE}"/>
              </a:ext>
            </a:extLst>
          </p:cNvPr>
          <p:cNvSpPr/>
          <p:nvPr/>
        </p:nvSpPr>
        <p:spPr>
          <a:xfrm>
            <a:off x="422787" y="0"/>
            <a:ext cx="5053781" cy="676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67D122-09B9-5ED1-2D19-95190FF97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5753" y="350976"/>
            <a:ext cx="4140973" cy="585774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F41F87F-0DBC-2D0A-9BAE-8144A8BAB19E}"/>
              </a:ext>
            </a:extLst>
          </p:cNvPr>
          <p:cNvSpPr txBox="1"/>
          <p:nvPr/>
        </p:nvSpPr>
        <p:spPr>
          <a:xfrm>
            <a:off x="169682" y="169682"/>
            <a:ext cx="731898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spc="300" dirty="0"/>
          </a:p>
          <a:p>
            <a:r>
              <a:rPr lang="en-US" b="1" spc="300" dirty="0"/>
              <a:t>APPLICATIONS:</a:t>
            </a:r>
            <a:br>
              <a:rPr lang="en-US" b="1" spc="300" dirty="0"/>
            </a:br>
            <a:endParaRPr lang="en-US" b="1" spc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Optimizing Crop Selection</a:t>
            </a:r>
            <a:r>
              <a:rPr lang="en-US" dirty="0"/>
              <a:t>: </a:t>
            </a:r>
            <a:r>
              <a:rPr lang="en-US" sz="1600" dirty="0"/>
              <a:t>Predicting soil quality helps farmers choose the most suitable crops for their land, which is critical for maximizing yields and ensuring profitable harvests.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Efficient Fertilizer Management</a:t>
            </a:r>
            <a:r>
              <a:rPr lang="en-US" dirty="0"/>
              <a:t>: </a:t>
            </a:r>
            <a:r>
              <a:rPr lang="en-US" sz="1600" dirty="0"/>
              <a:t>By analyzing nutrient levels, this application allows for precise recommendations on the type and number of fertilizers to use, reducing waste, saving costs, and minimizing environmental runoff.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Environmental Monitoring</a:t>
            </a:r>
            <a:r>
              <a:rPr lang="en-US" dirty="0"/>
              <a:t>: </a:t>
            </a:r>
            <a:r>
              <a:rPr lang="en-US" sz="1600" dirty="0"/>
              <a:t>Soil analysis is essential for detecting and predicting the presence of pollutants and heavy metals, making it a key tool for environmental conservation and the remediation of contaminated land.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Enhancing Precision Agriculture</a:t>
            </a:r>
            <a:r>
              <a:rPr lang="en-US" dirty="0"/>
              <a:t>: </a:t>
            </a:r>
            <a:r>
              <a:rPr lang="en-US" sz="1600" dirty="0"/>
              <a:t>The ability to create detailed soil maps based on predicted quality enables farmers to apply resources like water and nutrients in a targeted manner, leading to more efficient resource use and improved productivity.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Land-Use and Construction Planning</a:t>
            </a:r>
            <a:r>
              <a:rPr lang="en-US" sz="1600" dirty="0"/>
              <a:t>: In civil engineering, predicting soil properties is vital for assessing land stability and suitability for construction projects, ensuring the safety and longevity of infrastructure like buildings and roads.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25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A72EF23-D7ED-714E-DF34-F1D8ACFBD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26" r="13726"/>
          <a:stretch/>
        </p:blipFill>
        <p:spPr>
          <a:xfrm>
            <a:off x="7877177" y="884085"/>
            <a:ext cx="3825547" cy="5273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71F0F6-5D88-1AEA-27B0-0B5CE1A4E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447473"/>
            <a:ext cx="7229476" cy="1004256"/>
          </a:xfrm>
        </p:spPr>
        <p:txBody>
          <a:bodyPr/>
          <a:lstStyle/>
          <a:p>
            <a:r>
              <a:rPr lang="en-US" b="1" spc="300" dirty="0"/>
              <a:t>CONCLUSION:</a:t>
            </a:r>
            <a:endParaRPr lang="en-IN" b="1" spc="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B4706-2285-FD5D-3406-975AB0769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01" y="1451729"/>
            <a:ext cx="7475217" cy="4958799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project uses </a:t>
            </a:r>
            <a:r>
              <a:rPr lang="en-US" b="1" dirty="0"/>
              <a:t>machine learning</a:t>
            </a:r>
            <a:r>
              <a:rPr lang="en-US" dirty="0"/>
              <a:t> for </a:t>
            </a:r>
            <a:r>
              <a:rPr lang="en-US" b="1" dirty="0"/>
              <a:t>targeted soil quality prediction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It classifies soil as </a:t>
            </a:r>
            <a:r>
              <a:rPr lang="en-US" b="1" dirty="0"/>
              <a:t>'Good,' 'Moderate,'</a:t>
            </a:r>
            <a:r>
              <a:rPr lang="en-US" dirty="0"/>
              <a:t> or </a:t>
            </a:r>
            <a:r>
              <a:rPr lang="en-US" b="1" dirty="0"/>
              <a:t>'Poor'</a:t>
            </a:r>
            <a:r>
              <a:rPr lang="en-US" dirty="0"/>
              <a:t> using environmental and soil data.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DecisionTreeClassifier </a:t>
            </a:r>
            <a:r>
              <a:rPr lang="en-US" dirty="0"/>
              <a:t>and </a:t>
            </a:r>
            <a:r>
              <a:rPr lang="en-US" b="1" dirty="0"/>
              <a:t>RandomForestClassifier</a:t>
            </a:r>
            <a:r>
              <a:rPr lang="en-US" dirty="0"/>
              <a:t> achieved </a:t>
            </a:r>
            <a:r>
              <a:rPr lang="en-US" b="1" dirty="0"/>
              <a:t>100% testing accuracy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Helps farmers make </a:t>
            </a:r>
            <a:r>
              <a:rPr lang="en-US" b="1" dirty="0"/>
              <a:t>better crop decisions</a:t>
            </a:r>
            <a:r>
              <a:rPr lang="en-US" dirty="0"/>
              <a:t> and </a:t>
            </a:r>
            <a:r>
              <a:rPr lang="en-US" b="1" dirty="0"/>
              <a:t>optimize yield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Promotes </a:t>
            </a:r>
            <a:r>
              <a:rPr lang="en-US" b="1" dirty="0"/>
              <a:t>sustainable agriculture</a:t>
            </a:r>
            <a:r>
              <a:rPr lang="en-US" dirty="0"/>
              <a:t> benefiting the </a:t>
            </a:r>
            <a:r>
              <a:rPr lang="en-US" b="1" dirty="0"/>
              <a:t>economy</a:t>
            </a:r>
            <a:r>
              <a:rPr lang="en-US" dirty="0"/>
              <a:t> and the </a:t>
            </a:r>
            <a:r>
              <a:rPr lang="en-US" b="1" dirty="0"/>
              <a:t>environment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428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E9ACA-E0A1-E164-D968-FCB5A1169253}"/>
              </a:ext>
            </a:extLst>
          </p:cNvPr>
          <p:cNvSpPr txBox="1"/>
          <p:nvPr/>
        </p:nvSpPr>
        <p:spPr>
          <a:xfrm>
            <a:off x="2466975" y="2971799"/>
            <a:ext cx="6524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600" dirty="0"/>
              <a:t> THANK  YOU.</a:t>
            </a:r>
            <a:endParaRPr lang="en-IN" sz="6000" b="1" spc="600" dirty="0"/>
          </a:p>
        </p:txBody>
      </p:sp>
    </p:spTree>
    <p:extLst>
      <p:ext uri="{BB962C8B-B14F-4D97-AF65-F5344CB8AC3E}">
        <p14:creationId xmlns:p14="http://schemas.microsoft.com/office/powerpoint/2010/main" val="219286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1329</TotalTime>
  <Words>366</Words>
  <Application>Microsoft Office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 INTRODUCTION:</vt:lpstr>
      <vt:lpstr>PowerPoint Presentation</vt:lpstr>
      <vt:lpstr>TARGET VALUE </vt:lpstr>
      <vt:lpstr>DATASET</vt:lpstr>
      <vt:lpstr>MODELS:</vt:lpstr>
      <vt:lpstr>PowerPoint Presentation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PREDICTION</dc:title>
  <dc:creator>Akshay Manoj</dc:creator>
  <cp:lastModifiedBy>NAIR VARSHA V</cp:lastModifiedBy>
  <cp:revision>14</cp:revision>
  <dcterms:created xsi:type="dcterms:W3CDTF">2024-11-15T09:31:08Z</dcterms:created>
  <dcterms:modified xsi:type="dcterms:W3CDTF">2025-09-26T05:32:50Z</dcterms:modified>
</cp:coreProperties>
</file>